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4F70"/>
          </a:solidFill>
          <a:ln w="12700">
            <a:solidFill>
              <a:srgbClr val="0D4F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WealthPilot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 for Independent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Advisors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14630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IEORE4576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Spring 2026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Kanchan Bhale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kvb2117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wealthpilot-1026658918129.us-central1.run.app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229868" cy="256032"/>
          </a:xfrm>
          <a:prstGeom prst="rect">
            <a:avLst>
              <a:gd name="adj" fmla="val 14286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10312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Jane's Monday Morning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RIA · 82 clients · $180M AUM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417320"/>
            <a:ext cx="1691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417320"/>
            <a:ext cx="169164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417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755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82 CSVs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13969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Schwab portal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75104" y="1417320"/>
            <a:ext cx="1691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75104" y="1417320"/>
            <a:ext cx="169164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75104" y="1417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48256" y="1755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drift vs targets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48256" y="213969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in Excel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1417320"/>
            <a:ext cx="1691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417320"/>
            <a:ext cx="169164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417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22192" y="1755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IPS compliance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22192" y="213969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proposed trade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22976" y="1417320"/>
            <a:ext cx="1691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22976" y="1417320"/>
            <a:ext cx="169164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1417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1755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for TLH opps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96128" y="213969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after-tax benefit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96912" y="1417320"/>
            <a:ext cx="1691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96912" y="1417320"/>
            <a:ext cx="169164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6912" y="1417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☑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70064" y="1755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client emails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70064" y="213969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 one, from scratch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127248"/>
            <a:ext cx="2560320" cy="9144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6382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hrs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7200" y="35478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on ops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3127248"/>
            <a:ext cx="2560320" cy="9144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16382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$8,400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291840" y="35478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TLH savings missed/client/yr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3127248"/>
            <a:ext cx="2560320" cy="9144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16382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$250K+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126480" y="35478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institutional tools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040" y="4160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that solve this exist — for $150K–$250K/year (Bloomberg, Orion, Black Diamond). Jane can't afford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103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WealthPilot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opens her laptop at 8am. WealthPilot has already done the 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417320"/>
            <a:ext cx="2743200" cy="3291840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417320"/>
            <a:ext cx="274320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4356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1168" y="16459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02996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across all accounts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250545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loss harvesting candidates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29809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drag alerts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345643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queue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45536" y="1417320"/>
            <a:ext cx="2743200" cy="3291840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45536" y="141732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45536" y="14356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45536" y="16459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82696" y="202996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compliance per client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82696" y="250545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horizon risk flags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82696" y="29809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suitability check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82696" y="345643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compliance memo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04" y="1417320"/>
            <a:ext cx="2743200" cy="3291840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1417320"/>
            <a:ext cx="27432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9904" y="14356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89904" y="16459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27064" y="202996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email drafting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27064" y="250545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adapts to risk profile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27064" y="29809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per client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27064" y="345643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advisor approval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71216" y="2880360"/>
            <a:ext cx="320040" cy="274320"/>
          </a:xfrm>
          <a:prstGeom prst="chevron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15584" y="2880360"/>
            <a:ext cx="320040" cy="274320"/>
          </a:xfrm>
          <a:prstGeom prst="chevron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coordinates all three agents. Advisor reviews, approves, sends. No action without human sign-off.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185416" cy="256032"/>
          </a:xfrm>
          <a:prstGeom prst="rect">
            <a:avLst>
              <a:gd name="adj" fmla="val 14286"/>
            </a:avLst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1031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TECHNICAL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Course Concepts in Production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281635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170432"/>
            <a:ext cx="457200" cy="16002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7190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12801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6093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specialized agents with clean separation of concerns. Each independently testable and auditable.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82112" y="1170432"/>
            <a:ext cx="281635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170432"/>
            <a:ext cx="457200" cy="16002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7190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12464" y="12801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12464" y="16093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returns typed validated dicts. Machine-readable audit trail for regulators.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12464" y="2468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tools/suitability_tools.py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63056" y="1170432"/>
            <a:ext cx="281635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170432"/>
            <a:ext cx="457200" cy="16002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7190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93408" y="12801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Tool Use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93408" y="16093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called with per-client IPS context injection for tone-adaptive email drafting.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93408" y="2468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agents/communication_agent.py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" y="2953512"/>
            <a:ext cx="281635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" y="2953512"/>
            <a:ext cx="457200" cy="16002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35021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" y="30632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339242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 processes all client accounts in a single pipeline pass.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2519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agents/portfolio_monitor.py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82112" y="2953512"/>
            <a:ext cx="281635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82112" y="2953512"/>
            <a:ext cx="457200" cy="16002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2" y="35021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712464" y="30632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12464" y="339242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IPS documents retrieved per-client and injected into prompt at inference time.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12464" y="42519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agents/communication_agent.py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63056" y="2953512"/>
            <a:ext cx="281635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63056" y="2953512"/>
            <a:ext cx="457200" cy="16002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35021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693408" y="30632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93408" y="339242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must approve all orders and emails. No autonomous execution.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93408" y="42519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056132" cy="256032"/>
          </a:xfrm>
          <a:prstGeom prst="rect">
            <a:avLst>
              <a:gd name="adj" fmla="val 14286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10312"/>
            <a:ext cx="10012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LIVE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4206240" cy="10789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" y="1444752"/>
            <a:ext cx="457200" cy="45720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128016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Morning Brief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16093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clients analyzed in real time. See action queue populate by priority score.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4760" y="1280160"/>
            <a:ext cx="530352" cy="21945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28016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90872" y="1188720"/>
            <a:ext cx="4206240" cy="10789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444752"/>
            <a:ext cx="457200" cy="45720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28016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Deep Dive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16093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David &amp; Sarah Patel — drift chart, holdings table, P&amp;L by position.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57032" y="1280160"/>
            <a:ext cx="530352" cy="21945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128016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423160"/>
            <a:ext cx="4206240" cy="10789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" y="2679192"/>
            <a:ext cx="457200" cy="45720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" y="25146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Orders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" y="28437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flags equities overweight 5.4%. One-click to approve, memo auto-generated.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2514600"/>
            <a:ext cx="530352" cy="21945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251460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90872" y="2423160"/>
            <a:ext cx="4206240" cy="10789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679192"/>
            <a:ext cx="457200" cy="45720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25146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Loss Harvesting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8437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$128K in harvestable losses across book. ESGU, AGG flagged with wash-sale guidance.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57032" y="2514600"/>
            <a:ext cx="530352" cy="21945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57032" y="251460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3657600"/>
            <a:ext cx="4206240" cy="10789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8328" y="3913632"/>
            <a:ext cx="457200" cy="45720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6968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Email Draft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6968" y="40782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personalized client email. Tone adapts — moderate vs conservative clients.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94760" y="3749040"/>
            <a:ext cx="530352" cy="21945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94760" y="374904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90872" y="3657600"/>
            <a:ext cx="4206240" cy="10789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3913632"/>
            <a:ext cx="457200" cy="45720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9240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49240" y="40782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audit trail. Advisor signs off. No trade executes without approval.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57032" y="3749040"/>
            <a:ext cx="530352" cy="21945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57032" y="374904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wealthpilot-1026658918129.us-central1.run.app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403604" cy="256032"/>
          </a:xfrm>
          <a:prstGeom prst="rect">
            <a:avLst>
              <a:gd name="adj" fmla="val 14286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10312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BUSINESS CASE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Business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1168" y="1097280"/>
            <a:ext cx="41605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97280"/>
            <a:ext cx="4160520" cy="3657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0972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PER ADVISOR/MONTH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tokens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2011680"/>
            <a:ext cx="41605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84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Cloud Run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" y="2523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monitoring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25237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" y="2889504"/>
            <a:ext cx="41605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962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29626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401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3767328"/>
            <a:ext cx="41605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(price)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$299.00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" y="4279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4279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109728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572000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INDEPENDENT RIAS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0840" y="109728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2084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$299/mo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720840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ADVISOR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260604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4572000" y="3410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0840" y="260604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72084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$540K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6720840" y="3410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AT 1% PENETRATION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breaks: If token costs 10× → margin drops to ~83%. Model is unviable below $50/advisor revenue — we have 6× headroom.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403604" cy="256032"/>
          </a:xfrm>
          <a:prstGeom prst="rect">
            <a:avLst>
              <a:gd name="adj" fmla="val 14286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10312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DEFENSIBILITY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WealthPilot Wins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01168" y="1188720"/>
            <a:ext cx="4206240" cy="15361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" y="1325880"/>
            <a:ext cx="530352" cy="53035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3258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8408" y="128016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1645920"/>
            <a:ext cx="32735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IPS-aware suitability engine generates compliance memos. Every decision has an audit trail. Hard to replicate quickly in a regulated domain.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206240" cy="15361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325880"/>
            <a:ext cx="530352" cy="53035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258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128016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at Scale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1645920"/>
            <a:ext cx="32735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Tone-adaptive Gemini emails per client risk profile. Not a template — context-injected per client IPS. Advisors won't switch once their clients expect it.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2907792"/>
            <a:ext cx="4206240" cy="15361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" y="3044952"/>
            <a:ext cx="530352" cy="53035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044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8408" y="2999232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Trap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3364992"/>
            <a:ext cx="32735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 COGS vs $299 price = 95.7% gross margin. We can under-price any institutional competitor while staying profitable from client #1.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907792"/>
            <a:ext cx="4206240" cy="1536192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044952"/>
            <a:ext cx="530352" cy="53035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044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2999232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Network Effects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364992"/>
            <a:ext cx="32735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custodian partnerships. Phase 3: API for Orion/Nitrogen. Each integration adds switching cost and makes us sticky.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not replacing the advisor. We're giving them their Sunday evenings back."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WealthPilot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4114800" cy="731520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27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not just use Orion?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$250K/year. We're $3,600.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572768"/>
            <a:ext cx="4114800" cy="731520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627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What's your moat?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901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IPS-aware engine + tone-adaptive comms. Compliance audit trail.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14016"/>
            <a:ext cx="4114800" cy="731520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468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Real brokerage data?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Schwab/Fidelity API in Phase 2. Demo uses realistic mock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414016"/>
            <a:ext cx="4114800" cy="731520"/>
          </a:xfrm>
          <a:prstGeom prst="rect">
            <a:avLst/>
          </a:prstGeom>
          <a:solidFill>
            <a:srgbClr val="0D1117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468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multi-agent vs one LLM?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Separates concerns — each auditable independently. Regulatory requirement.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566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github.com/Kanchanbhale/wealthpilot  |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wealthpilot-1026658918129.us-central1.run.app  |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Kanchan Bhale · kvb2117 · IEORE4576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WealthPilot — Capstone Presentation</dc:title>
  <dc:subject>PptxGenJS Presentation</dc:subject>
  <dc:creator>Kanchan Bhale</dc:creator>
  <cp:lastModifiedBy>Kanchan Bhale</cp:lastModifiedBy>
  <cp:revision>1</cp:revision>
  <dcterms:created xsi:type="dcterms:W3CDTF">2026-05-16T03:00:12Z</dcterms:created>
  <dcterms:modified xsi:type="dcterms:W3CDTF">2026-05-16T03:00:12Z</dcterms:modified>
</cp:coreProperties>
</file>